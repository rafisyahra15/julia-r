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ptos Bold" charset="1" panose="020B0004020202020204"/>
      <p:regular r:id="rId25"/>
    </p:embeddedFont>
    <p:embeddedFont>
      <p:font typeface="Aptos" charset="1" panose="020B0004020202020204"/>
      <p:regular r:id="rId26"/>
    </p:embeddedFont>
    <p:embeddedFont>
      <p:font typeface="Calibri (MS) Bold" charset="1" panose="020F0702030404030204"/>
      <p:regular r:id="rId27"/>
    </p:embeddedFont>
    <p:embeddedFont>
      <p:font typeface="Calibri (MS)" charset="1" panose="020F0502020204030204"/>
      <p:regular r:id="rId28"/>
    </p:embeddedFont>
    <p:embeddedFont>
      <p:font typeface="Calibri (MS) Italics" charset="1" panose="020F05020202040A0204"/>
      <p:regular r:id="rId29"/>
    </p:embeddedFont>
    <p:embeddedFont>
      <p:font typeface="Open Sans Bold" charset="1" panose="020B0806030504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42B4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301752" cy="10287000"/>
            <a:chOff x="0" y="0"/>
            <a:chExt cx="40233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233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876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25880" y="1760220"/>
            <a:ext cx="7137397" cy="356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TUTORIAL</a:t>
            </a:r>
          </a:p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CRIMPING KABEL LAN</a:t>
            </a:r>
          </a:p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BEE0D4"/>
                </a:solidFill>
                <a:latin typeface="Aptos"/>
                <a:ea typeface="Aptos"/>
                <a:cs typeface="Aptos"/>
                <a:sym typeface="Aptos"/>
              </a:rPr>
              <a:t>Menyusun kabel straight dan cross</a:t>
            </a:r>
          </a:p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BEE0D4"/>
                </a:solidFill>
                <a:latin typeface="Aptos"/>
                <a:ea typeface="Aptos"/>
                <a:cs typeface="Aptos"/>
                <a:sym typeface="Aptos"/>
              </a:rPr>
              <a:t>By : Julia Rahmadani</a:t>
            </a:r>
          </a:p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BEE0D4"/>
                </a:solidFill>
                <a:latin typeface="Aptos"/>
                <a:ea typeface="Aptos"/>
                <a:cs typeface="Aptos"/>
                <a:sym typeface="Aptos"/>
              </a:rPr>
              <a:t>Kelas : 1 TIB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967210" y="1371600"/>
            <a:ext cx="4320540" cy="7680960"/>
            <a:chOff x="0" y="0"/>
            <a:chExt cx="5760720" cy="10241280"/>
          </a:xfrm>
        </p:grpSpPr>
        <p:sp>
          <p:nvSpPr>
            <p:cNvPr name="Freeform 8" id="8" descr="tools.jpg"/>
            <p:cNvSpPr/>
            <p:nvPr/>
          </p:nvSpPr>
          <p:spPr>
            <a:xfrm flipH="false" flipV="false" rot="0">
              <a:off x="0" y="0"/>
              <a:ext cx="576072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0241280"/>
                  </a:lnTo>
                  <a:lnTo>
                    <a:pt x="0" y="10241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94460" y="8138160"/>
            <a:ext cx="873252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Materi Praktik Teknik Komputer dan Jaringan (TKJ)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99169" y="2253615"/>
            <a:ext cx="3799522" cy="6739890"/>
            <a:chOff x="0" y="0"/>
            <a:chExt cx="5066030" cy="8986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6030" cy="8986520"/>
            </a:xfrm>
            <a:custGeom>
              <a:avLst/>
              <a:gdLst/>
              <a:ahLst/>
              <a:cxnLst/>
              <a:rect r="r" b="b" t="t" l="l"/>
              <a:pathLst>
                <a:path h="8986520" w="5066030">
                  <a:moveTo>
                    <a:pt x="0" y="0"/>
                  </a:moveTo>
                  <a:lnTo>
                    <a:pt x="5066030" y="0"/>
                  </a:lnTo>
                  <a:lnTo>
                    <a:pt x="5066030" y="8986520"/>
                  </a:lnTo>
                  <a:lnTo>
                    <a:pt x="0" y="8986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7594" t="0" r="-177594" b="0"/>
              </a:stretch>
            </a:blipFill>
            <a:ln w="19050" cap="sq">
              <a:solidFill>
                <a:srgbClr val="CDD8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8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2980" y="525780"/>
            <a:ext cx="1627632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42B48"/>
                </a:solidFill>
                <a:latin typeface="Aptos Bold"/>
                <a:ea typeface="Aptos Bold"/>
                <a:cs typeface="Aptos Bold"/>
                <a:sym typeface="Aptos Bold"/>
              </a:rPr>
              <a:t>Tujuan Praktik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128" y="1458468"/>
            <a:ext cx="16002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Memahami proses pembuatan kabel jaringan Ethernet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720" y="2240280"/>
            <a:ext cx="9555480" cy="704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Mengenal alat dan bahan untuk membuat kabel LAN.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Memahami urutan warna kabel straight dan cross.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Mempraktikkan pemasangan konektor RJ45 dan proses crimping.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Menguji kabel untuk memastikan susunan kabel terhubung dengan benar.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408694" y="2263140"/>
            <a:ext cx="3780472" cy="6720840"/>
            <a:chOff x="0" y="0"/>
            <a:chExt cx="5040630" cy="8961120"/>
          </a:xfrm>
        </p:grpSpPr>
        <p:sp>
          <p:nvSpPr>
            <p:cNvPr name="Freeform 10" id="10" descr="opening.jpg"/>
            <p:cNvSpPr/>
            <p:nvPr/>
          </p:nvSpPr>
          <p:spPr>
            <a:xfrm flipH="false" flipV="false" rot="0">
              <a:off x="0" y="0"/>
              <a:ext cx="5040630" cy="8961120"/>
            </a:xfrm>
            <a:custGeom>
              <a:avLst/>
              <a:gdLst/>
              <a:ahLst/>
              <a:cxnLst/>
              <a:rect r="r" b="b" t="t" l="l"/>
              <a:pathLst>
                <a:path h="8961120" w="5040630">
                  <a:moveTo>
                    <a:pt x="0" y="0"/>
                  </a:moveTo>
                  <a:lnTo>
                    <a:pt x="5040630" y="0"/>
                  </a:lnTo>
                  <a:lnTo>
                    <a:pt x="5040630" y="8961120"/>
                  </a:lnTo>
                  <a:lnTo>
                    <a:pt x="0" y="896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2980" y="9801987"/>
            <a:ext cx="16276320" cy="19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TUTORIAL CRIMPING KABEL LAN  • 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63350" y="2116455"/>
            <a:ext cx="4030980" cy="7151370"/>
            <a:chOff x="0" y="0"/>
            <a:chExt cx="5374640" cy="9535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74640" cy="9535160"/>
            </a:xfrm>
            <a:custGeom>
              <a:avLst/>
              <a:gdLst/>
              <a:ahLst/>
              <a:cxnLst/>
              <a:rect r="r" b="b" t="t" l="l"/>
              <a:pathLst>
                <a:path h="9535160" w="5374640">
                  <a:moveTo>
                    <a:pt x="0" y="0"/>
                  </a:moveTo>
                  <a:lnTo>
                    <a:pt x="5374640" y="0"/>
                  </a:lnTo>
                  <a:lnTo>
                    <a:pt x="5374640" y="9535160"/>
                  </a:lnTo>
                  <a:lnTo>
                    <a:pt x="0" y="9535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7623" t="0" r="-177623" b="0"/>
              </a:stretch>
            </a:blipFill>
            <a:ln w="19050" cap="sq">
              <a:solidFill>
                <a:srgbClr val="CDD8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8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2980" y="525780"/>
            <a:ext cx="1627632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42B48"/>
                </a:solidFill>
                <a:latin typeface="Aptos Bold"/>
                <a:ea typeface="Aptos Bold"/>
                <a:cs typeface="Aptos Bold"/>
                <a:sym typeface="Aptos Bold"/>
              </a:rPr>
              <a:t>Alat dan Bahan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128" y="1458468"/>
            <a:ext cx="16002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Siapkan perlengkapan sebelum mulai bekerja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720" y="2240280"/>
            <a:ext cx="8869680" cy="704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Kabel UTP: media penghantar data jaringan.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Konektor RJ45: ujung konektor yang dipasang pada kabel.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Tang crimping: memasang dan menjepit konektor.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LAN tester: memeriksa kontinuitas dan urutan sambungan kabel.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72875" y="2125980"/>
            <a:ext cx="4011930" cy="7132320"/>
            <a:chOff x="0" y="0"/>
            <a:chExt cx="5349240" cy="9509760"/>
          </a:xfrm>
        </p:grpSpPr>
        <p:sp>
          <p:nvSpPr>
            <p:cNvPr name="Freeform 10" id="10" descr="tools.jpg"/>
            <p:cNvSpPr/>
            <p:nvPr/>
          </p:nvSpPr>
          <p:spPr>
            <a:xfrm flipH="false" flipV="false" rot="0">
              <a:off x="0" y="0"/>
              <a:ext cx="5349240" cy="9509760"/>
            </a:xfrm>
            <a:custGeom>
              <a:avLst/>
              <a:gdLst/>
              <a:ahLst/>
              <a:cxnLst/>
              <a:rect r="r" b="b" t="t" l="l"/>
              <a:pathLst>
                <a:path h="9509760" w="5349240">
                  <a:moveTo>
                    <a:pt x="0" y="0"/>
                  </a:moveTo>
                  <a:lnTo>
                    <a:pt x="5349240" y="0"/>
                  </a:lnTo>
                  <a:lnTo>
                    <a:pt x="5349240" y="9509760"/>
                  </a:lnTo>
                  <a:lnTo>
                    <a:pt x="0" y="9509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2980" y="9801987"/>
            <a:ext cx="16276320" cy="19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TUTORIAL CRIMPING KABEL LAN  • 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75482" y="2116455"/>
            <a:ext cx="4069556" cy="7219950"/>
            <a:chOff x="0" y="0"/>
            <a:chExt cx="5426075" cy="9626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26075" cy="9626600"/>
            </a:xfrm>
            <a:custGeom>
              <a:avLst/>
              <a:gdLst/>
              <a:ahLst/>
              <a:cxnLst/>
              <a:rect r="r" b="b" t="t" l="l"/>
              <a:pathLst>
                <a:path h="9626600" w="5426075">
                  <a:moveTo>
                    <a:pt x="0" y="0"/>
                  </a:moveTo>
                  <a:lnTo>
                    <a:pt x="5426075" y="0"/>
                  </a:lnTo>
                  <a:lnTo>
                    <a:pt x="5426075" y="9626600"/>
                  </a:lnTo>
                  <a:lnTo>
                    <a:pt x="0" y="9626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7628" t="0" r="-177628" b="0"/>
              </a:stretch>
            </a:blipFill>
            <a:ln w="19050" cap="sq">
              <a:solidFill>
                <a:srgbClr val="CDD8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8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2980" y="525780"/>
            <a:ext cx="1627632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42B48"/>
                </a:solidFill>
                <a:latin typeface="Aptos Bold"/>
                <a:ea typeface="Aptos Bold"/>
                <a:cs typeface="Aptos Bold"/>
                <a:sym typeface="Aptos Bold"/>
              </a:rPr>
              <a:t>Langkah 1 — Kupas Kabel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128" y="1458468"/>
            <a:ext cx="16002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Buka bagian luar kabel dengan hati-hati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720" y="2240280"/>
            <a:ext cx="8732520" cy="704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Potong ujung kabel UTP agar rata.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Kupas sedikit jaket luar kabel menggunakan alat yang sesuai.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Hindari memotong atau merusak isolasi kabel-kabel kecil di dalamnya.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Pisahkan pasangan kabel agar mudah diluruskan.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85007" y="2125980"/>
            <a:ext cx="4050506" cy="7200900"/>
            <a:chOff x="0" y="0"/>
            <a:chExt cx="5400675" cy="9601200"/>
          </a:xfrm>
        </p:grpSpPr>
        <p:sp>
          <p:nvSpPr>
            <p:cNvPr name="Freeform 10" id="10" descr="strip_cable.jpg"/>
            <p:cNvSpPr/>
            <p:nvPr/>
          </p:nvSpPr>
          <p:spPr>
            <a:xfrm flipH="false" flipV="false" rot="0">
              <a:off x="0" y="0"/>
              <a:ext cx="5400675" cy="9601200"/>
            </a:xfrm>
            <a:custGeom>
              <a:avLst/>
              <a:gdLst/>
              <a:ahLst/>
              <a:cxnLst/>
              <a:rect r="r" b="b" t="t" l="l"/>
              <a:pathLst>
                <a:path h="9601200" w="5400675">
                  <a:moveTo>
                    <a:pt x="0" y="0"/>
                  </a:moveTo>
                  <a:lnTo>
                    <a:pt x="5400675" y="0"/>
                  </a:lnTo>
                  <a:lnTo>
                    <a:pt x="5400675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2980" y="9801987"/>
            <a:ext cx="16276320" cy="19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TUTORIAL CRIMPING KABEL LAN  • 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8F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2980" y="525780"/>
            <a:ext cx="1627632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42B48"/>
                </a:solidFill>
                <a:latin typeface="Aptos Bold"/>
                <a:ea typeface="Aptos Bold"/>
                <a:cs typeface="Aptos Bold"/>
                <a:sym typeface="Aptos Bold"/>
              </a:rPr>
              <a:t>Langkah 2 — Susun Warna Kabel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128" y="1458468"/>
            <a:ext cx="16002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Luruskan kabel kecil dan atur sesuai standar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0136" y="2118836"/>
            <a:ext cx="7763828" cy="6803707"/>
            <a:chOff x="0" y="0"/>
            <a:chExt cx="10351770" cy="90716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51770" cy="9071611"/>
            </a:xfrm>
            <a:custGeom>
              <a:avLst/>
              <a:gdLst/>
              <a:ahLst/>
              <a:cxnLst/>
              <a:rect r="r" b="b" t="t" l="l"/>
              <a:pathLst>
                <a:path h="9071611" w="10351770">
                  <a:moveTo>
                    <a:pt x="0" y="1511935"/>
                  </a:moveTo>
                  <a:cubicBezTo>
                    <a:pt x="0" y="676910"/>
                    <a:pt x="676910" y="0"/>
                    <a:pt x="1511935" y="0"/>
                  </a:cubicBezTo>
                  <a:lnTo>
                    <a:pt x="8839835" y="0"/>
                  </a:lnTo>
                  <a:cubicBezTo>
                    <a:pt x="9674860" y="0"/>
                    <a:pt x="10351770" y="676910"/>
                    <a:pt x="10351770" y="1511935"/>
                  </a:cubicBezTo>
                  <a:lnTo>
                    <a:pt x="10351770" y="7559675"/>
                  </a:lnTo>
                  <a:cubicBezTo>
                    <a:pt x="10351770" y="8394700"/>
                    <a:pt x="9674860" y="9071611"/>
                    <a:pt x="8839835" y="9071611"/>
                  </a:cubicBezTo>
                  <a:lnTo>
                    <a:pt x="1511935" y="9071611"/>
                  </a:lnTo>
                  <a:cubicBezTo>
                    <a:pt x="676910" y="9071610"/>
                    <a:pt x="0" y="8394700"/>
                    <a:pt x="0" y="75596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AE4E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531620" y="2514600"/>
            <a:ext cx="6812280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08763"/>
                </a:solidFill>
                <a:latin typeface="Aptos Bold"/>
                <a:ea typeface="Aptos Bold"/>
                <a:cs typeface="Aptos Bold"/>
                <a:sym typeface="Aptos Bold"/>
              </a:rPr>
              <a:t>Straight (kedua ujung sama)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70196" y="3284696"/>
            <a:ext cx="590360" cy="357188"/>
            <a:chOff x="0" y="0"/>
            <a:chExt cx="787146" cy="476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7146" cy="476250"/>
            </a:xfrm>
            <a:custGeom>
              <a:avLst/>
              <a:gdLst/>
              <a:ahLst/>
              <a:cxnLst/>
              <a:rect r="r" b="b" t="t" l="l"/>
              <a:pathLst>
                <a:path h="476250" w="787146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07771" y="0"/>
                  </a:lnTo>
                  <a:cubicBezTo>
                    <a:pt x="751586" y="0"/>
                    <a:pt x="787146" y="35560"/>
                    <a:pt x="787146" y="79375"/>
                  </a:cubicBezTo>
                  <a:lnTo>
                    <a:pt x="787146" y="396875"/>
                  </a:lnTo>
                  <a:cubicBezTo>
                    <a:pt x="787146" y="440690"/>
                    <a:pt x="751586" y="476250"/>
                    <a:pt x="707771" y="476250"/>
                  </a:cubicBezTo>
                  <a:lnTo>
                    <a:pt x="79375" y="476250"/>
                  </a:lnTo>
                  <a:cubicBezTo>
                    <a:pt x="35560" y="476250"/>
                    <a:pt x="0" y="440690"/>
                    <a:pt x="0" y="396875"/>
                  </a:cubicBezTo>
                  <a:close/>
                </a:path>
              </a:pathLst>
            </a:custGeom>
            <a:solidFill>
              <a:srgbClr val="F5F5F5"/>
            </a:solidFill>
            <a:ln w="14288" cap="sq">
              <a:solidFill>
                <a:srgbClr val="AAAAAA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2423160" y="3282696"/>
            <a:ext cx="5715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1. Putih-oranye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570196" y="3901916"/>
            <a:ext cx="590360" cy="357188"/>
            <a:chOff x="0" y="0"/>
            <a:chExt cx="787146" cy="476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7146" cy="476250"/>
            </a:xfrm>
            <a:custGeom>
              <a:avLst/>
              <a:gdLst/>
              <a:ahLst/>
              <a:cxnLst/>
              <a:rect r="r" b="b" t="t" l="l"/>
              <a:pathLst>
                <a:path h="476250" w="787146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07771" y="0"/>
                  </a:lnTo>
                  <a:cubicBezTo>
                    <a:pt x="751586" y="0"/>
                    <a:pt x="787146" y="35560"/>
                    <a:pt x="787146" y="79375"/>
                  </a:cubicBezTo>
                  <a:lnTo>
                    <a:pt x="787146" y="396875"/>
                  </a:lnTo>
                  <a:cubicBezTo>
                    <a:pt x="787146" y="440690"/>
                    <a:pt x="751586" y="476250"/>
                    <a:pt x="707771" y="476250"/>
                  </a:cubicBezTo>
                  <a:lnTo>
                    <a:pt x="79375" y="476250"/>
                  </a:lnTo>
                  <a:cubicBezTo>
                    <a:pt x="35560" y="476250"/>
                    <a:pt x="0" y="440690"/>
                    <a:pt x="0" y="396875"/>
                  </a:cubicBezTo>
                  <a:close/>
                </a:path>
              </a:pathLst>
            </a:custGeom>
            <a:solidFill>
              <a:srgbClr val="EB8234"/>
            </a:solidFill>
            <a:ln w="14288" cap="sq">
              <a:solidFill>
                <a:srgbClr val="AAAAAA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2423160" y="3899916"/>
            <a:ext cx="5715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2. Oranye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70196" y="4519136"/>
            <a:ext cx="590360" cy="357188"/>
            <a:chOff x="0" y="0"/>
            <a:chExt cx="787146" cy="476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7146" cy="476250"/>
            </a:xfrm>
            <a:custGeom>
              <a:avLst/>
              <a:gdLst/>
              <a:ahLst/>
              <a:cxnLst/>
              <a:rect r="r" b="b" t="t" l="l"/>
              <a:pathLst>
                <a:path h="476250" w="787146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07771" y="0"/>
                  </a:lnTo>
                  <a:cubicBezTo>
                    <a:pt x="751586" y="0"/>
                    <a:pt x="787146" y="35560"/>
                    <a:pt x="787146" y="79375"/>
                  </a:cubicBezTo>
                  <a:lnTo>
                    <a:pt x="787146" y="396875"/>
                  </a:lnTo>
                  <a:cubicBezTo>
                    <a:pt x="787146" y="440690"/>
                    <a:pt x="751586" y="476250"/>
                    <a:pt x="707771" y="476250"/>
                  </a:cubicBezTo>
                  <a:lnTo>
                    <a:pt x="79375" y="476250"/>
                  </a:lnTo>
                  <a:cubicBezTo>
                    <a:pt x="35560" y="476250"/>
                    <a:pt x="0" y="440690"/>
                    <a:pt x="0" y="396875"/>
                  </a:cubicBezTo>
                  <a:close/>
                </a:path>
              </a:pathLst>
            </a:custGeom>
            <a:solidFill>
              <a:srgbClr val="F5F5F5"/>
            </a:solidFill>
            <a:ln w="14288" cap="sq">
              <a:solidFill>
                <a:srgbClr val="AAAAAA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2423160" y="4517136"/>
            <a:ext cx="5715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3. Putih-hijau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70196" y="5136356"/>
            <a:ext cx="590360" cy="357188"/>
            <a:chOff x="0" y="0"/>
            <a:chExt cx="787146" cy="476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7146" cy="476250"/>
            </a:xfrm>
            <a:custGeom>
              <a:avLst/>
              <a:gdLst/>
              <a:ahLst/>
              <a:cxnLst/>
              <a:rect r="r" b="b" t="t" l="l"/>
              <a:pathLst>
                <a:path h="476250" w="787146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07771" y="0"/>
                  </a:lnTo>
                  <a:cubicBezTo>
                    <a:pt x="751586" y="0"/>
                    <a:pt x="787146" y="35560"/>
                    <a:pt x="787146" y="79375"/>
                  </a:cubicBezTo>
                  <a:lnTo>
                    <a:pt x="787146" y="396875"/>
                  </a:lnTo>
                  <a:cubicBezTo>
                    <a:pt x="787146" y="440690"/>
                    <a:pt x="751586" y="476250"/>
                    <a:pt x="707771" y="476250"/>
                  </a:cubicBezTo>
                  <a:lnTo>
                    <a:pt x="79375" y="476250"/>
                  </a:lnTo>
                  <a:cubicBezTo>
                    <a:pt x="35560" y="476250"/>
                    <a:pt x="0" y="440690"/>
                    <a:pt x="0" y="396875"/>
                  </a:cubicBezTo>
                  <a:close/>
                </a:path>
              </a:pathLst>
            </a:custGeom>
            <a:solidFill>
              <a:srgbClr val="3074C0"/>
            </a:solidFill>
            <a:ln w="14288" cap="sq">
              <a:solidFill>
                <a:srgbClr val="AAAAAA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423160" y="5134356"/>
            <a:ext cx="5715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4. Biru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70196" y="5753576"/>
            <a:ext cx="590360" cy="357188"/>
            <a:chOff x="0" y="0"/>
            <a:chExt cx="787146" cy="476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7146" cy="476250"/>
            </a:xfrm>
            <a:custGeom>
              <a:avLst/>
              <a:gdLst/>
              <a:ahLst/>
              <a:cxnLst/>
              <a:rect r="r" b="b" t="t" l="l"/>
              <a:pathLst>
                <a:path h="476250" w="787146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07771" y="0"/>
                  </a:lnTo>
                  <a:cubicBezTo>
                    <a:pt x="751586" y="0"/>
                    <a:pt x="787146" y="35560"/>
                    <a:pt x="787146" y="79375"/>
                  </a:cubicBezTo>
                  <a:lnTo>
                    <a:pt x="787146" y="396875"/>
                  </a:lnTo>
                  <a:cubicBezTo>
                    <a:pt x="787146" y="440690"/>
                    <a:pt x="751586" y="476250"/>
                    <a:pt x="707771" y="476250"/>
                  </a:cubicBezTo>
                  <a:lnTo>
                    <a:pt x="79375" y="476250"/>
                  </a:lnTo>
                  <a:cubicBezTo>
                    <a:pt x="35560" y="476250"/>
                    <a:pt x="0" y="440690"/>
                    <a:pt x="0" y="396875"/>
                  </a:cubicBezTo>
                  <a:close/>
                </a:path>
              </a:pathLst>
            </a:custGeom>
            <a:solidFill>
              <a:srgbClr val="F5F5F5"/>
            </a:solidFill>
            <a:ln w="14288" cap="sq">
              <a:solidFill>
                <a:srgbClr val="AAAAAA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2423160" y="5751576"/>
            <a:ext cx="5715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5. Putih-biru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570196" y="6370796"/>
            <a:ext cx="590360" cy="357188"/>
            <a:chOff x="0" y="0"/>
            <a:chExt cx="787146" cy="476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7146" cy="476250"/>
            </a:xfrm>
            <a:custGeom>
              <a:avLst/>
              <a:gdLst/>
              <a:ahLst/>
              <a:cxnLst/>
              <a:rect r="r" b="b" t="t" l="l"/>
              <a:pathLst>
                <a:path h="476250" w="787146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07771" y="0"/>
                  </a:lnTo>
                  <a:cubicBezTo>
                    <a:pt x="751586" y="0"/>
                    <a:pt x="787146" y="35560"/>
                    <a:pt x="787146" y="79375"/>
                  </a:cubicBezTo>
                  <a:lnTo>
                    <a:pt x="787146" y="396875"/>
                  </a:lnTo>
                  <a:cubicBezTo>
                    <a:pt x="787146" y="440690"/>
                    <a:pt x="751586" y="476250"/>
                    <a:pt x="707771" y="476250"/>
                  </a:cubicBezTo>
                  <a:lnTo>
                    <a:pt x="79375" y="476250"/>
                  </a:lnTo>
                  <a:cubicBezTo>
                    <a:pt x="35560" y="476250"/>
                    <a:pt x="0" y="440690"/>
                    <a:pt x="0" y="396875"/>
                  </a:cubicBezTo>
                  <a:close/>
                </a:path>
              </a:pathLst>
            </a:custGeom>
            <a:solidFill>
              <a:srgbClr val="379156"/>
            </a:solidFill>
            <a:ln w="14288" cap="sq">
              <a:solidFill>
                <a:srgbClr val="AAAAAA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2423160" y="6368796"/>
            <a:ext cx="5715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6. Hijau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570196" y="6988016"/>
            <a:ext cx="590360" cy="357188"/>
            <a:chOff x="0" y="0"/>
            <a:chExt cx="787146" cy="4762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87146" cy="476250"/>
            </a:xfrm>
            <a:custGeom>
              <a:avLst/>
              <a:gdLst/>
              <a:ahLst/>
              <a:cxnLst/>
              <a:rect r="r" b="b" t="t" l="l"/>
              <a:pathLst>
                <a:path h="476250" w="787146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07771" y="0"/>
                  </a:lnTo>
                  <a:cubicBezTo>
                    <a:pt x="751586" y="0"/>
                    <a:pt x="787146" y="35560"/>
                    <a:pt x="787146" y="79375"/>
                  </a:cubicBezTo>
                  <a:lnTo>
                    <a:pt x="787146" y="396875"/>
                  </a:lnTo>
                  <a:cubicBezTo>
                    <a:pt x="787146" y="440690"/>
                    <a:pt x="751586" y="476250"/>
                    <a:pt x="707771" y="476250"/>
                  </a:cubicBezTo>
                  <a:lnTo>
                    <a:pt x="79375" y="476250"/>
                  </a:lnTo>
                  <a:cubicBezTo>
                    <a:pt x="35560" y="476250"/>
                    <a:pt x="0" y="440690"/>
                    <a:pt x="0" y="396875"/>
                  </a:cubicBezTo>
                  <a:close/>
                </a:path>
              </a:pathLst>
            </a:custGeom>
            <a:solidFill>
              <a:srgbClr val="F5F5F5"/>
            </a:solidFill>
            <a:ln w="14288" cap="sq">
              <a:solidFill>
                <a:srgbClr val="AAAAAA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2423160" y="6986016"/>
            <a:ext cx="5715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7. Putih-cokelat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570196" y="7605236"/>
            <a:ext cx="590360" cy="357188"/>
            <a:chOff x="0" y="0"/>
            <a:chExt cx="787146" cy="4762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7146" cy="476250"/>
            </a:xfrm>
            <a:custGeom>
              <a:avLst/>
              <a:gdLst/>
              <a:ahLst/>
              <a:cxnLst/>
              <a:rect r="r" b="b" t="t" l="l"/>
              <a:pathLst>
                <a:path h="476250" w="787146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707771" y="0"/>
                  </a:lnTo>
                  <a:cubicBezTo>
                    <a:pt x="751586" y="0"/>
                    <a:pt x="787146" y="35560"/>
                    <a:pt x="787146" y="79375"/>
                  </a:cubicBezTo>
                  <a:lnTo>
                    <a:pt x="787146" y="396875"/>
                  </a:lnTo>
                  <a:cubicBezTo>
                    <a:pt x="787146" y="440690"/>
                    <a:pt x="751586" y="476250"/>
                    <a:pt x="707771" y="476250"/>
                  </a:cubicBezTo>
                  <a:lnTo>
                    <a:pt x="79375" y="476250"/>
                  </a:lnTo>
                  <a:cubicBezTo>
                    <a:pt x="35560" y="476250"/>
                    <a:pt x="0" y="440690"/>
                    <a:pt x="0" y="396875"/>
                  </a:cubicBezTo>
                  <a:close/>
                </a:path>
              </a:pathLst>
            </a:custGeom>
            <a:solidFill>
              <a:srgbClr val="784E30"/>
            </a:solidFill>
            <a:ln w="14288" cap="sq">
              <a:solidFill>
                <a:srgbClr val="AAAAAA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2423160" y="7603236"/>
            <a:ext cx="5715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8. Cokelat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88316" y="2118836"/>
            <a:ext cx="7763828" cy="6803707"/>
            <a:chOff x="0" y="0"/>
            <a:chExt cx="10351770" cy="907161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351770" cy="9071611"/>
            </a:xfrm>
            <a:custGeom>
              <a:avLst/>
              <a:gdLst/>
              <a:ahLst/>
              <a:cxnLst/>
              <a:rect r="r" b="b" t="t" l="l"/>
              <a:pathLst>
                <a:path h="9071611" w="10351770">
                  <a:moveTo>
                    <a:pt x="0" y="1511935"/>
                  </a:moveTo>
                  <a:cubicBezTo>
                    <a:pt x="0" y="676910"/>
                    <a:pt x="676910" y="0"/>
                    <a:pt x="1511935" y="0"/>
                  </a:cubicBezTo>
                  <a:lnTo>
                    <a:pt x="8839835" y="0"/>
                  </a:lnTo>
                  <a:cubicBezTo>
                    <a:pt x="9674860" y="0"/>
                    <a:pt x="10351770" y="676910"/>
                    <a:pt x="10351770" y="1511935"/>
                  </a:cubicBezTo>
                  <a:lnTo>
                    <a:pt x="10351770" y="7559675"/>
                  </a:lnTo>
                  <a:cubicBezTo>
                    <a:pt x="10351770" y="8394700"/>
                    <a:pt x="9674860" y="9071611"/>
                    <a:pt x="8839835" y="9071611"/>
                  </a:cubicBezTo>
                  <a:lnTo>
                    <a:pt x="1511935" y="9071611"/>
                  </a:lnTo>
                  <a:cubicBezTo>
                    <a:pt x="676910" y="9071610"/>
                    <a:pt x="0" y="8394700"/>
                    <a:pt x="0" y="75596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AE4E2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829800" y="2514600"/>
            <a:ext cx="6812280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08763"/>
                </a:solidFill>
                <a:latin typeface="Aptos Bold"/>
                <a:ea typeface="Aptos Bold"/>
                <a:cs typeface="Aptos Bold"/>
                <a:sym typeface="Aptos Bold"/>
              </a:rPr>
              <a:t>Cross (ujung berbeda)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66960" y="3358515"/>
            <a:ext cx="6606540" cy="352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42B4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T568A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D34"/>
                </a:solidFill>
                <a:latin typeface="Calibri (MS)"/>
                <a:ea typeface="Calibri (MS)"/>
                <a:cs typeface="Calibri (MS)"/>
                <a:sym typeface="Calibri (MS)"/>
              </a:rPr>
              <a:t>Putih-hijau → Hijau → Putih-oranye → Biru → Putih-biru → Oranye → Putih-cokelat → Cokelat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32D34"/>
                </a:solidFill>
                <a:latin typeface="Calibri (MS)"/>
                <a:ea typeface="Calibri (MS)"/>
                <a:cs typeface="Calibri (MS)"/>
                <a:sym typeface="Calibri (MS)"/>
              </a:rPr>
              <a:t>Ujung lainnya menggunakan T568B.</a:t>
            </a:r>
          </a:p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5C6B7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Catatan: urutan straight adalah standar T568B pada kedua ujung, atau T568A pada kedua ujung.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2980" y="9801987"/>
            <a:ext cx="16276320" cy="19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TUTORIAL CRIMPING KABEL LAN  • 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21327" y="5476875"/>
            <a:ext cx="1909286" cy="3379470"/>
            <a:chOff x="0" y="0"/>
            <a:chExt cx="2545715" cy="450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5715" cy="4505960"/>
            </a:xfrm>
            <a:custGeom>
              <a:avLst/>
              <a:gdLst/>
              <a:ahLst/>
              <a:cxnLst/>
              <a:rect r="r" b="b" t="t" l="l"/>
              <a:pathLst>
                <a:path h="4505960" w="2545715">
                  <a:moveTo>
                    <a:pt x="0" y="0"/>
                  </a:moveTo>
                  <a:lnTo>
                    <a:pt x="2545715" y="0"/>
                  </a:lnTo>
                  <a:lnTo>
                    <a:pt x="2545715" y="4505960"/>
                  </a:lnTo>
                  <a:lnTo>
                    <a:pt x="0" y="4505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7099" t="0" r="-177099" b="0"/>
              </a:stretch>
            </a:blipFill>
            <a:ln w="19050" cap="sq">
              <a:solidFill>
                <a:srgbClr val="CDD8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559903" y="2116455"/>
            <a:ext cx="1832134" cy="3242310"/>
            <a:chOff x="0" y="0"/>
            <a:chExt cx="2442845" cy="4323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845" cy="4323080"/>
            </a:xfrm>
            <a:custGeom>
              <a:avLst/>
              <a:gdLst/>
              <a:ahLst/>
              <a:cxnLst/>
              <a:rect r="r" b="b" t="t" l="l"/>
              <a:pathLst>
                <a:path h="4323080" w="2442845">
                  <a:moveTo>
                    <a:pt x="0" y="0"/>
                  </a:moveTo>
                  <a:lnTo>
                    <a:pt x="2442845" y="0"/>
                  </a:lnTo>
                  <a:lnTo>
                    <a:pt x="2442845" y="4323080"/>
                  </a:lnTo>
                  <a:lnTo>
                    <a:pt x="0" y="4323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7057" t="0" r="-177057" b="0"/>
              </a:stretch>
            </a:blipFill>
            <a:ln w="19050" cap="sq">
              <a:solidFill>
                <a:srgbClr val="CDD8D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8F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2980" y="525780"/>
            <a:ext cx="1627632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42B48"/>
                </a:solidFill>
                <a:latin typeface="Aptos Bold"/>
                <a:ea typeface="Aptos Bold"/>
                <a:cs typeface="Aptos Bold"/>
                <a:sym typeface="Aptos Bold"/>
              </a:rPr>
              <a:t>Langkah 3–4 — Pasang RJ45 dan Crimping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128" y="1458468"/>
            <a:ext cx="16002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Pastikan susunan kabel tidak berubah saat dimasukkan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720" y="2240280"/>
            <a:ext cx="8732520" cy="704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Ratakan ujung delapan kabel dan potong sejajar.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Masukkan kabel ke konektor RJ45 sampai tiap kabel mencapai ujung konektor.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Periksa kembali urutan warna dan posisi jaket kabel.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Jepit konektor menggunakan tang crimping hingga pin terkunci.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569428" y="2125980"/>
            <a:ext cx="1813084" cy="3223260"/>
            <a:chOff x="0" y="0"/>
            <a:chExt cx="2417445" cy="4297680"/>
          </a:xfrm>
        </p:grpSpPr>
        <p:sp>
          <p:nvSpPr>
            <p:cNvPr name="Freeform 12" id="12" descr="pasang_konektor.jpg"/>
            <p:cNvSpPr/>
            <p:nvPr/>
          </p:nvSpPr>
          <p:spPr>
            <a:xfrm flipH="false" flipV="false" rot="0">
              <a:off x="0" y="0"/>
              <a:ext cx="2417445" cy="4297680"/>
            </a:xfrm>
            <a:custGeom>
              <a:avLst/>
              <a:gdLst/>
              <a:ahLst/>
              <a:cxnLst/>
              <a:rect r="r" b="b" t="t" l="l"/>
              <a:pathLst>
                <a:path h="4297680" w="2417445">
                  <a:moveTo>
                    <a:pt x="0" y="0"/>
                  </a:moveTo>
                  <a:lnTo>
                    <a:pt x="2417445" y="0"/>
                  </a:lnTo>
                  <a:lnTo>
                    <a:pt x="2417445" y="4297680"/>
                  </a:lnTo>
                  <a:lnTo>
                    <a:pt x="0" y="429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530852" y="5486400"/>
            <a:ext cx="1890236" cy="3360420"/>
            <a:chOff x="0" y="0"/>
            <a:chExt cx="2520315" cy="4480560"/>
          </a:xfrm>
        </p:grpSpPr>
        <p:sp>
          <p:nvSpPr>
            <p:cNvPr name="Freeform 14" id="14" descr="crimping.jpg"/>
            <p:cNvSpPr/>
            <p:nvPr/>
          </p:nvSpPr>
          <p:spPr>
            <a:xfrm flipH="false" flipV="false" rot="0">
              <a:off x="0" y="0"/>
              <a:ext cx="2520315" cy="4480560"/>
            </a:xfrm>
            <a:custGeom>
              <a:avLst/>
              <a:gdLst/>
              <a:ahLst/>
              <a:cxnLst/>
              <a:rect r="r" b="b" t="t" l="l"/>
              <a:pathLst>
                <a:path h="4480560" w="2520315">
                  <a:moveTo>
                    <a:pt x="0" y="0"/>
                  </a:moveTo>
                  <a:lnTo>
                    <a:pt x="2520315" y="0"/>
                  </a:lnTo>
                  <a:lnTo>
                    <a:pt x="2520315" y="4480560"/>
                  </a:lnTo>
                  <a:lnTo>
                    <a:pt x="0" y="448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82980" y="9801987"/>
            <a:ext cx="16276320" cy="19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TUTORIAL CRIMPING KABEL LAN  •  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63350" y="2116455"/>
            <a:ext cx="4030980" cy="7151370"/>
            <a:chOff x="0" y="0"/>
            <a:chExt cx="5374640" cy="9535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74640" cy="9535160"/>
            </a:xfrm>
            <a:custGeom>
              <a:avLst/>
              <a:gdLst/>
              <a:ahLst/>
              <a:cxnLst/>
              <a:rect r="r" b="b" t="t" l="l"/>
              <a:pathLst>
                <a:path h="9535160" w="5374640">
                  <a:moveTo>
                    <a:pt x="0" y="0"/>
                  </a:moveTo>
                  <a:lnTo>
                    <a:pt x="5374640" y="0"/>
                  </a:lnTo>
                  <a:lnTo>
                    <a:pt x="5374640" y="9535160"/>
                  </a:lnTo>
                  <a:lnTo>
                    <a:pt x="0" y="9535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7623" t="0" r="-177623" b="0"/>
              </a:stretch>
            </a:blipFill>
            <a:ln w="19050" cap="sq">
              <a:solidFill>
                <a:srgbClr val="CDD8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8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2980" y="525780"/>
            <a:ext cx="1627632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42B48"/>
                </a:solidFill>
                <a:latin typeface="Aptos Bold"/>
                <a:ea typeface="Aptos Bold"/>
                <a:cs typeface="Aptos Bold"/>
                <a:sym typeface="Aptos Bold"/>
              </a:rPr>
              <a:t>Langkah 5 — Uji Kabel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128" y="1458468"/>
            <a:ext cx="16002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Gunakan LAN tester setelah kedua ujung selesai dipasang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720" y="2240280"/>
            <a:ext cx="9006840" cy="704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Hubungkan kedua ujung kabel ke port LAN tester.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Nyalakan alat dan amati indikator pada kedua bagian tester.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Jika indikator berjalan sesuai urutan, kabel kemungkinan tersambung dengan baik.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4"/>
                </a:solidFill>
                <a:latin typeface="Aptos"/>
                <a:ea typeface="Aptos"/>
                <a:cs typeface="Aptos"/>
                <a:sym typeface="Aptos"/>
              </a:rPr>
              <a:t>Jika ada lampu yang tidak menyala atau urutannya salah, periksa kembali susunan kabel dan crimping.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72875" y="2125980"/>
            <a:ext cx="4011930" cy="7132320"/>
            <a:chOff x="0" y="0"/>
            <a:chExt cx="5349240" cy="9509760"/>
          </a:xfrm>
        </p:grpSpPr>
        <p:sp>
          <p:nvSpPr>
            <p:cNvPr name="Freeform 10" id="10" descr="uji_kabel.jpg"/>
            <p:cNvSpPr/>
            <p:nvPr/>
          </p:nvSpPr>
          <p:spPr>
            <a:xfrm flipH="false" flipV="false" rot="0">
              <a:off x="0" y="0"/>
              <a:ext cx="5349240" cy="9509760"/>
            </a:xfrm>
            <a:custGeom>
              <a:avLst/>
              <a:gdLst/>
              <a:ahLst/>
              <a:cxnLst/>
              <a:rect r="r" b="b" t="t" l="l"/>
              <a:pathLst>
                <a:path h="9509760" w="5349240">
                  <a:moveTo>
                    <a:pt x="0" y="0"/>
                  </a:moveTo>
                  <a:lnTo>
                    <a:pt x="5349240" y="0"/>
                  </a:lnTo>
                  <a:lnTo>
                    <a:pt x="5349240" y="9509760"/>
                  </a:lnTo>
                  <a:lnTo>
                    <a:pt x="0" y="9509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2980" y="9801987"/>
            <a:ext cx="16276320" cy="19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C6B73"/>
                </a:solidFill>
                <a:latin typeface="Aptos"/>
                <a:ea typeface="Aptos"/>
                <a:cs typeface="Aptos"/>
                <a:sym typeface="Aptos"/>
              </a:rPr>
              <a:t>TUTORIAL CRIMPING KABEL LAN  •  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42B4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63040" y="1133475"/>
            <a:ext cx="153162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Kesimpulan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1620" y="2788920"/>
            <a:ext cx="14630400" cy="429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Pembuatan kabel LAN membutuhkan urutan warna yang tepat, pemasangan konektor RJ45 yang rapi, dan proses crimping yang kuat. Pengujian dengan LAN tester membantu memastikan kabel siap digunakan pada jaringan.</a:t>
            </a:r>
          </a:p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82DCB4"/>
                </a:solidFill>
                <a:latin typeface="Aptos Bold"/>
                <a:ea typeface="Aptos Bold"/>
                <a:cs typeface="Aptos Bold"/>
                <a:sym typeface="Aptos Bold"/>
              </a:rPr>
              <a:t>Terima kasih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7764" y="-171450"/>
            <a:ext cx="1493247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 merangkai kabel 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101142"/>
            <a:ext cx="18288000" cy="261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16"/>
              </a:lnSpc>
              <a:spcBef>
                <a:spcPct val="0"/>
              </a:spcBef>
            </a:pPr>
            <a:r>
              <a:rPr lang="en-US" b="true" sz="751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https://youtube.com/shorts/QI5zOa_OUVY?si=JVyxSww4MgKZtML3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9602" y="-171450"/>
            <a:ext cx="1012879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 peer to peer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274503"/>
            <a:ext cx="18288000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https://youtu.be/ZGID5vDJzLE?si=US1braS0W368cjTQ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DAHX4jk9inw</dc:identifier>
  <dcterms:modified xsi:type="dcterms:W3CDTF">2011-08-01T06:04:30Z</dcterms:modified>
  <cp:revision>1</cp:revision>
  <dc:title>Gabungan_PPT_Crimping_dan_Sharing_File_LAN.pptx</dc:title>
</cp:coreProperties>
</file>